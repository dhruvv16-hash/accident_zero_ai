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8" r:id="rId3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73"/>
    <p:restoredTop sz="94664"/>
  </p:normalViewPr>
  <p:slideViewPr>
    <p:cSldViewPr snapToGrid="0" snapToObjects="1">
      <p:cViewPr>
        <p:scale>
          <a:sx n="20" d="100"/>
          <a:sy n="20" d="100"/>
        </p:scale>
        <p:origin x="-744" y="-72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00305737010862E-2"/>
          <c:y val="1.8784892389905473E-2"/>
          <c:w val="0.9553996942629891"/>
          <c:h val="0.826486264962269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 cap="rnd">
              <a:solidFill>
                <a:srgbClr val="00AEB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BE5-934C-8CFE-3134D5841C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0" cap="rnd">
              <a:solidFill>
                <a:srgbClr val="A80432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BE5-934C-8CFE-3134D5841C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63500" cap="rnd">
              <a:solidFill>
                <a:srgbClr val="FCB61A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0BE5-934C-8CFE-3134D5841C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ln w="63500" cap="rnd">
              <a:solidFill>
                <a:srgbClr val="B2AC1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0BE5-934C-8CFE-3134D5841C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0720256"/>
        <c:axId val="173024000"/>
      </c:lineChart>
      <c:catAx>
        <c:axId val="17072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24000"/>
        <c:crosses val="autoZero"/>
        <c:auto val="1"/>
        <c:lblAlgn val="ctr"/>
        <c:lblOffset val="100"/>
        <c:noMultiLvlLbl val="0"/>
      </c:catAx>
      <c:valAx>
        <c:axId val="17302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720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BB9-DE47-8FCA-B8057EB318AE}"/>
              </c:ext>
            </c:extLst>
          </c:dPt>
          <c:dPt>
            <c:idx val="1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BB9-DE47-8FCA-B8057EB318AE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BB9-DE47-8FCA-B8057EB318AE}"/>
              </c:ext>
            </c:extLst>
          </c:dPt>
          <c:dPt>
            <c:idx val="3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BB9-DE47-8FCA-B8057EB318AE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5.4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BB9-DE47-8FCA-B8057EB318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168-5244-AD88-787F1EECC561}"/>
              </c:ext>
            </c:extLst>
          </c:dPt>
          <c:dPt>
            <c:idx val="1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168-5244-AD88-787F1EECC561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168-5244-AD88-787F1EECC561}"/>
              </c:ext>
            </c:extLst>
          </c:dPt>
          <c:dPt>
            <c:idx val="3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168-5244-AD88-787F1EECC561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168-5244-AD88-787F1EECC5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00305737010862E-2"/>
          <c:y val="1.8784892389905473E-2"/>
          <c:w val="0.9553996942629891"/>
          <c:h val="0.826486264962269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 cap="rnd">
              <a:solidFill>
                <a:srgbClr val="00AEB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BE5-934C-8CFE-3134D5841C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0" cap="rnd">
              <a:solidFill>
                <a:srgbClr val="A80432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BE5-934C-8CFE-3134D5841C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63500" cap="rnd">
              <a:solidFill>
                <a:srgbClr val="FCB61A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0BE5-934C-8CFE-3134D5841C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ln w="63500" cap="rnd">
              <a:solidFill>
                <a:srgbClr val="B2AC1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0BE5-934C-8CFE-3134D5841C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6374144"/>
        <c:axId val="176375680"/>
      </c:lineChart>
      <c:catAx>
        <c:axId val="17637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75680"/>
        <c:crosses val="autoZero"/>
        <c:auto val="1"/>
        <c:lblAlgn val="ctr"/>
        <c:lblOffset val="100"/>
        <c:noMultiLvlLbl val="0"/>
      </c:catAx>
      <c:valAx>
        <c:axId val="17637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74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BB9-DE47-8FCA-B8057EB318AE}"/>
              </c:ext>
            </c:extLst>
          </c:dPt>
          <c:dPt>
            <c:idx val="1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BB9-DE47-8FCA-B8057EB318AE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BB9-DE47-8FCA-B8057EB318AE}"/>
              </c:ext>
            </c:extLst>
          </c:dPt>
          <c:dPt>
            <c:idx val="3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BB9-DE47-8FCA-B8057EB318AE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5.4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BB9-DE47-8FCA-B8057EB318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168-5244-AD88-787F1EECC561}"/>
              </c:ext>
            </c:extLst>
          </c:dPt>
          <c:dPt>
            <c:idx val="1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168-5244-AD88-787F1EECC561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168-5244-AD88-787F1EECC561}"/>
              </c:ext>
            </c:extLst>
          </c:dPt>
          <c:dPt>
            <c:idx val="3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168-5244-AD88-787F1EECC561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168-5244-AD88-787F1EECC5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5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3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1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324604" y="4702821"/>
            <a:ext cx="14101483" cy="27263874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Results and discussion</a:t>
            </a:r>
            <a:endParaRPr lang="en-US" sz="4000" b="1" cap="all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tables or charts showing the results of your experiments briefly discuss the results immediately below every chart/table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Conclusion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 clear and crispy conclusion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References </a:t>
            </a: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or two important references here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0" y="-3496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/>
          </a:p>
        </p:txBody>
      </p:sp>
      <p:sp>
        <p:nvSpPr>
          <p:cNvPr id="7" name="object 4">
            <a:extLst>
              <a:ext uri="{FF2B5EF4-FFF2-40B4-BE49-F238E27FC236}">
                <a16:creationId xmlns=""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9429485" y="126527"/>
            <a:ext cx="22413150" cy="1017141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791">
              <a:spcBef>
                <a:spcPts val="156"/>
              </a:spcBef>
              <a:tabLst>
                <a:tab pos="4592769" algn="l"/>
              </a:tabLst>
            </a:pPr>
            <a:r>
              <a:rPr lang="en-US" sz="7200" b="1" cap="all" spc="-8" dirty="0">
                <a:solidFill>
                  <a:schemeClr val="bg1"/>
                </a:solidFill>
                <a:latin typeface="Arial" panose="020B0604020202020204" pitchFamily="34" charset="0"/>
              </a:rPr>
              <a:t>PROJECT TITLE</a:t>
            </a:r>
            <a:r>
              <a:rPr lang="en-US" sz="7200" b="1" cap="all" spc="-106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sz="7200" b="1" cap="all" spc="-16" dirty="0">
                <a:solidFill>
                  <a:schemeClr val="bg1"/>
                </a:solidFill>
                <a:latin typeface="Arial" panose="020B0604020202020204" pitchFamily="34" charset="0"/>
              </a:rPr>
              <a:t>HERE</a:t>
            </a:r>
          </a:p>
        </p:txBody>
      </p:sp>
      <p:sp>
        <p:nvSpPr>
          <p:cNvPr id="9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744200" y="1239476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Student </a:t>
            </a:r>
            <a:r>
              <a:rPr sz="4000" spc="16" dirty="0" smtClean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(Reg. No.)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21095422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55" name="Chart 54">
            <a:extLst>
              <a:ext uri="{FF2B5EF4-FFF2-40B4-BE49-F238E27FC236}">
                <a16:creationId xmlns="" xmlns:a16="http://schemas.microsoft.com/office/drawing/2014/main" id="{0A1EC19B-A6C2-4043-8D0B-30A34670C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964246"/>
              </p:ext>
            </p:extLst>
          </p:nvPr>
        </p:nvGraphicFramePr>
        <p:xfrm>
          <a:off x="32746739" y="15771792"/>
          <a:ext cx="9871883" cy="493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" name="Chart 59">
            <a:extLst>
              <a:ext uri="{FF2B5EF4-FFF2-40B4-BE49-F238E27FC236}">
                <a16:creationId xmlns="" xmlns:a16="http://schemas.microsoft.com/office/drawing/2014/main" id="{BBC4230B-CCAA-B642-B968-26C92D08E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52975"/>
              </p:ext>
            </p:extLst>
          </p:nvPr>
        </p:nvGraphicFramePr>
        <p:xfrm>
          <a:off x="31770242" y="10162575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="" xmlns:a16="http://schemas.microsoft.com/office/drawing/2014/main" id="{287D039C-E96B-BA4C-8B74-8F8FBCAA1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081265"/>
              </p:ext>
            </p:extLst>
          </p:nvPr>
        </p:nvGraphicFramePr>
        <p:xfrm>
          <a:off x="37143907" y="10181202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9" name="Picture 28" descr="See the source image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896600" y="184907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Guide Name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3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941424" y="253935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School Name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8916" y="4590627"/>
            <a:ext cx="14101483" cy="27217707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INTRODUCTION</a:t>
            </a: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introduction of the project here.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Mention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motivation for the project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Objectives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of the project as bulleted points here.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SCOPE of the project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scope of the project as bulleted points here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7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14837124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894858" y="4662345"/>
            <a:ext cx="14101483" cy="2718693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methodology</a:t>
            </a:r>
            <a:endParaRPr lang="en-US" sz="4000" b="1" cap="all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the method proposed/employed briefly here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Architecture 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the system architecture diagram/process block diagram here.</a:t>
            </a: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Briefly describe the diagram here.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55971" y="3075420"/>
            <a:ext cx="23979257" cy="1631216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 </a:t>
            </a:r>
          </a:p>
          <a:p>
            <a:pPr marR="120589">
              <a:lnSpc>
                <a:spcPts val="4000"/>
              </a:lnSpc>
            </a:pPr>
            <a:r>
              <a:rPr lang="en-US" sz="4000" b="1" cap="all" spc="25" dirty="0" err="1" smtClean="0">
                <a:solidFill>
                  <a:srgbClr val="0070C0"/>
                </a:solidFill>
                <a:latin typeface="Arial"/>
                <a:cs typeface="Arial"/>
              </a:rPr>
              <a:t>Github</a:t>
            </a: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4000" b="1" cap="all" spc="25" smtClean="0">
                <a:solidFill>
                  <a:srgbClr val="0070C0"/>
                </a:solidFill>
                <a:latin typeface="Arial"/>
                <a:cs typeface="Arial"/>
              </a:rPr>
              <a:t>link: </a:t>
            </a: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262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324604" y="4702821"/>
            <a:ext cx="14101483" cy="2600199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Results and discussion</a:t>
            </a:r>
            <a:endParaRPr lang="en-US" sz="4000" b="1" cap="all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tables or charts showing the results of your experiments briefly discuss the results immediately below every chart/table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Conclusion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 clear and crispy summary of your results here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References </a:t>
            </a: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or two important references here</a:t>
            </a: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0" y="-3496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/>
          </a:p>
        </p:txBody>
      </p:sp>
      <p:sp>
        <p:nvSpPr>
          <p:cNvPr id="7" name="object 4">
            <a:extLst>
              <a:ext uri="{FF2B5EF4-FFF2-40B4-BE49-F238E27FC236}">
                <a16:creationId xmlns=""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9429485" y="126527"/>
            <a:ext cx="32848068" cy="1017141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791">
              <a:spcBef>
                <a:spcPts val="156"/>
              </a:spcBef>
              <a:tabLst>
                <a:tab pos="4592769" algn="l"/>
              </a:tabLst>
            </a:pPr>
            <a:r>
              <a:rPr lang="en-US" sz="7200" b="1" cap="all" spc="-8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Tuberclosis</a:t>
            </a:r>
            <a:r>
              <a:rPr lang="en-US" sz="7200" b="1" cap="all" spc="-8" dirty="0" smtClean="0">
                <a:solidFill>
                  <a:schemeClr val="bg1"/>
                </a:solidFill>
                <a:latin typeface="Arial" panose="020B0604020202020204" pitchFamily="34" charset="0"/>
              </a:rPr>
              <a:t> detection using machine learning algorithm</a:t>
            </a:r>
            <a:endParaRPr lang="en-US" sz="7200" b="1" cap="all" spc="-16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744200" y="1239476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XXXXX</a:t>
            </a:r>
            <a:r>
              <a:rPr sz="4000" spc="16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(Reg. No.)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21095422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55" name="Chart 54">
            <a:extLst>
              <a:ext uri="{FF2B5EF4-FFF2-40B4-BE49-F238E27FC236}">
                <a16:creationId xmlns="" xmlns:a16="http://schemas.microsoft.com/office/drawing/2014/main" id="{0A1EC19B-A6C2-4043-8D0B-30A34670C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904089"/>
              </p:ext>
            </p:extLst>
          </p:nvPr>
        </p:nvGraphicFramePr>
        <p:xfrm>
          <a:off x="32746739" y="15771792"/>
          <a:ext cx="9871883" cy="493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" name="Chart 59">
            <a:extLst>
              <a:ext uri="{FF2B5EF4-FFF2-40B4-BE49-F238E27FC236}">
                <a16:creationId xmlns="" xmlns:a16="http://schemas.microsoft.com/office/drawing/2014/main" id="{BBC4230B-CCAA-B642-B968-26C92D08E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313699"/>
              </p:ext>
            </p:extLst>
          </p:nvPr>
        </p:nvGraphicFramePr>
        <p:xfrm>
          <a:off x="31770242" y="10162575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="" xmlns:a16="http://schemas.microsoft.com/office/drawing/2014/main" id="{287D039C-E96B-BA4C-8B74-8F8FBCAA1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4793736"/>
              </p:ext>
            </p:extLst>
          </p:nvPr>
        </p:nvGraphicFramePr>
        <p:xfrm>
          <a:off x="37143907" y="10181202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9" name="Picture 28" descr="See the source image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896600" y="184907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YYYYY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3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941424" y="253935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School of Computer Science and Engineering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8916" y="4590627"/>
            <a:ext cx="14101483" cy="2637645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INTRODUCTION</a:t>
            </a: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today’s world TB is a fatal disease. The whole world is affected by TB and a huge number of people die to this deadly disease.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following facts motivates the initiation of the project.</a:t>
            </a: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Tuberculosis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(TB) is one of the top 10 causes of death worldwide.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2017, 10 million people fell ill with TB where 1.6 million died from the disease.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2017, an estimated 1 million children became ill with TB and 230 000 children died of TB.</a:t>
            </a: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order to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 the body cells which are affected by tuberculosis bacteria, image processing as well as machine learning algorithms </a:t>
            </a:r>
            <a:r>
              <a:rPr lang="en-US" sz="3600" spc="8" dirty="0" err="1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random forest, KNN, SVM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etc. are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used. This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presents a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study of machine learning algorithms in detecting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tuberculosis bacteria affected body cells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images. 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Objectives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publically available datasets such as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microscopic bacteria images, chest x-ray radiogram,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fluorescent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analysis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processing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 for preprocessing and extracting representative features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the performance of machine learning algorithms based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accuracy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specificity, sensitivity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SCOPE </a:t>
            </a:r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of the project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scope of this project is that it can aid the healthcare professionals with faster and accurate detection of tuberculosis. </a:t>
            </a: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7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14837124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894858" y="4662345"/>
            <a:ext cx="14101483" cy="26284118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 algn="just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 algn="just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Methodology</a:t>
            </a:r>
          </a:p>
          <a:p>
            <a:pPr marR="120589" algn="just">
              <a:lnSpc>
                <a:spcPts val="4000"/>
              </a:lnSpc>
            </a:pPr>
            <a:endParaRPr lang="en-US" sz="40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lvl="0" algn="just">
              <a:lnSpc>
                <a:spcPct val="150000"/>
              </a:lnSpc>
            </a:pPr>
            <a:r>
              <a:rPr lang="en-US" sz="3600" b="1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</a:p>
          <a:p>
            <a:pPr lvl="0"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 technique segmentation, filtration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named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wiener filter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used.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segmentation, mainly graph-cut segmentation is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used.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600" b="1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  <a:p>
            <a:pPr lvl="0"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modified LHTGF technique is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 extracting features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Modified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LHTGF: LBP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HOG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Tamura Feature Extraction and Gabor Filter</a:t>
            </a: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Architecture </a:t>
            </a: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n-IN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 </a:t>
            </a:r>
            <a:r>
              <a:rPr lang="en-IN" sz="3600" spc="8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otal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 images</a:t>
            </a:r>
          </a:p>
          <a:p>
            <a:pPr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Montgomery  Country: 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 with manifestation of tuberculosis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 with normal cases</a:t>
            </a:r>
          </a:p>
          <a:p>
            <a:pPr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China Set: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326 with normal cases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336 with manifestation of 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tuberculosis</a:t>
            </a:r>
          </a:p>
          <a:p>
            <a:pPr lvl="1" algn="just">
              <a:lnSpc>
                <a:spcPct val="150000"/>
              </a:lnSpc>
            </a:pPr>
            <a:endParaRPr lang="en-IN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sz="3600" spc="8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employed to extract features and Machine learning algorithms such as SVM, KNN and Random Forest are experimented to compare the classification accuracy.</a:t>
            </a:r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15686646" y="14686680"/>
            <a:ext cx="11341942" cy="4553593"/>
            <a:chOff x="1837346" y="3230310"/>
            <a:chExt cx="7503206" cy="2289188"/>
          </a:xfrm>
        </p:grpSpPr>
        <p:sp>
          <p:nvSpPr>
            <p:cNvPr id="52" name="Rectangle 51"/>
            <p:cNvSpPr/>
            <p:nvPr/>
          </p:nvSpPr>
          <p:spPr>
            <a:xfrm>
              <a:off x="1837346" y="3230311"/>
              <a:ext cx="145278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Datasets</a:t>
              </a:r>
              <a:endParaRPr lang="en-IN" sz="28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64679" y="4605098"/>
              <a:ext cx="1375873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Feature </a:t>
              </a:r>
              <a:r>
                <a:rPr lang="en-IN" sz="2800" dirty="0"/>
                <a:t>E</a:t>
              </a:r>
              <a:r>
                <a:rPr lang="en-IN" sz="2800" dirty="0" smtClean="0"/>
                <a:t>xtraction </a:t>
              </a:r>
              <a:endParaRPr lang="en-IN" sz="28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37346" y="4645012"/>
              <a:ext cx="1428019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TB affected or not</a:t>
              </a:r>
              <a:endParaRPr lang="en-IN" sz="28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22086" y="4645012"/>
              <a:ext cx="1427148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Machine Learning Algorithm</a:t>
              </a:r>
              <a:endParaRPr lang="en-IN" sz="2800" dirty="0"/>
            </a:p>
          </p:txBody>
        </p:sp>
        <p:cxnSp>
          <p:nvCxnSpPr>
            <p:cNvPr id="65" name="Straight Arrow Connector 64"/>
            <p:cNvCxnSpPr>
              <a:stCxn id="64" idx="1"/>
              <a:endCxn id="63" idx="3"/>
            </p:cNvCxnSpPr>
            <p:nvPr/>
          </p:nvCxnSpPr>
          <p:spPr>
            <a:xfrm flipH="1">
              <a:off x="3265365" y="5082255"/>
              <a:ext cx="1556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4822086" y="3230310"/>
              <a:ext cx="1427148" cy="8516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Data Exploration</a:t>
              </a:r>
              <a:endParaRPr lang="en-IN" sz="2800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853584" y="3230310"/>
              <a:ext cx="1486968" cy="8511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Deep Net</a:t>
              </a:r>
              <a:endParaRPr lang="en-IN" sz="2800" dirty="0"/>
            </a:p>
          </p:txBody>
        </p:sp>
        <p:cxnSp>
          <p:nvCxnSpPr>
            <p:cNvPr id="68" name="Straight Arrow Connector 67"/>
            <p:cNvCxnSpPr>
              <a:stCxn id="52" idx="3"/>
              <a:endCxn id="66" idx="1"/>
            </p:cNvCxnSpPr>
            <p:nvPr/>
          </p:nvCxnSpPr>
          <p:spPr>
            <a:xfrm flipV="1">
              <a:off x="3290131" y="3656119"/>
              <a:ext cx="1531955" cy="313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6" idx="3"/>
              <a:endCxn id="67" idx="1"/>
            </p:cNvCxnSpPr>
            <p:nvPr/>
          </p:nvCxnSpPr>
          <p:spPr>
            <a:xfrm flipV="1">
              <a:off x="6249234" y="3655883"/>
              <a:ext cx="1604350" cy="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endCxn id="62" idx="0"/>
            </p:cNvCxnSpPr>
            <p:nvPr/>
          </p:nvCxnSpPr>
          <p:spPr>
            <a:xfrm>
              <a:off x="8652616" y="4081927"/>
              <a:ext cx="0" cy="5231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62" idx="1"/>
              <a:endCxn id="64" idx="3"/>
            </p:cNvCxnSpPr>
            <p:nvPr/>
          </p:nvCxnSpPr>
          <p:spPr>
            <a:xfrm flipH="1">
              <a:off x="6249234" y="5062298"/>
              <a:ext cx="1715445" cy="19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417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Words>526</Words>
  <Application>Microsoft Office PowerPoint</Application>
  <PresentationFormat>Custom</PresentationFormat>
  <Paragraphs>246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admin</cp:lastModifiedBy>
  <cp:revision>33</cp:revision>
  <dcterms:created xsi:type="dcterms:W3CDTF">2019-03-04T22:30:53Z</dcterms:created>
  <dcterms:modified xsi:type="dcterms:W3CDTF">2026-04-02T16:38:42Z</dcterms:modified>
</cp:coreProperties>
</file>