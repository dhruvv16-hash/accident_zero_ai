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60" r:id="rId2"/>
    <p:sldId id="258" r:id="rId3"/>
  </p:sldIdLst>
  <p:sldSz cx="43891200" cy="3291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473"/>
    <p:restoredTop sz="94664"/>
  </p:normalViewPr>
  <p:slideViewPr>
    <p:cSldViewPr snapToGrid="0" snapToObjects="1">
      <p:cViewPr>
        <p:scale>
          <a:sx n="20" d="100"/>
          <a:sy n="20" d="100"/>
        </p:scale>
        <p:origin x="-744" y="-72"/>
      </p:cViewPr>
      <p:guideLst>
        <p:guide orient="horz" pos="10368"/>
        <p:guide pos="1382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4600305737010862E-2"/>
          <c:y val="1.8784892389905473E-2"/>
          <c:w val="0.9553996942629891"/>
          <c:h val="0.82648626496226985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63500" cap="rnd">
              <a:solidFill>
                <a:srgbClr val="00AEB6"/>
              </a:solidFill>
              <a:round/>
            </a:ln>
            <a:effectLst>
              <a:outerShdw sx="1000" sy="1000" rotWithShape="0">
                <a:srgbClr val="000000"/>
              </a:outerShdw>
            </a:effectLst>
          </c:spPr>
          <c:marker>
            <c:symbol val="none"/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0-0BE5-934C-8CFE-3134D5841C6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63500" cap="rnd">
              <a:solidFill>
                <a:srgbClr val="A80432"/>
              </a:solidFill>
              <a:round/>
            </a:ln>
            <a:effectLst>
              <a:outerShdw sx="1000" sy="1000" rotWithShape="0">
                <a:srgbClr val="000000"/>
              </a:outerShdw>
            </a:effectLst>
          </c:spPr>
          <c:marker>
            <c:symbol val="none"/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1-0BE5-934C-8CFE-3134D5841C6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63500" cap="rnd">
              <a:solidFill>
                <a:srgbClr val="FCB61A"/>
              </a:solidFill>
              <a:round/>
            </a:ln>
            <a:effectLst>
              <a:outerShdw sx="1000" sy="1000" rotWithShape="0">
                <a:srgbClr val="000000"/>
              </a:outerShdw>
            </a:effectLst>
          </c:spPr>
          <c:marker>
            <c:symbol val="none"/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2-0BE5-934C-8CFE-3134D5841C65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Series 32</c:v>
                </c:pt>
              </c:strCache>
            </c:strRef>
          </c:tx>
          <c:spPr>
            <a:ln w="63500" cap="rnd">
              <a:solidFill>
                <a:srgbClr val="B2AC16"/>
              </a:solidFill>
              <a:round/>
            </a:ln>
            <a:effectLst>
              <a:outerShdw sx="1000" sy="1000" rotWithShape="0">
                <a:srgbClr val="000000"/>
              </a:outerShdw>
            </a:effectLst>
          </c:spPr>
          <c:marker>
            <c:symbol val="none"/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6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3-0BE5-934C-8CFE-3134D5841C65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70720256"/>
        <c:axId val="173024000"/>
      </c:lineChart>
      <c:catAx>
        <c:axId val="1707202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3024000"/>
        <c:crosses val="autoZero"/>
        <c:auto val="1"/>
        <c:lblAlgn val="ctr"/>
        <c:lblOffset val="100"/>
        <c:noMultiLvlLbl val="0"/>
      </c:catAx>
      <c:valAx>
        <c:axId val="1730240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07202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rgbClr val="A80432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4BB9-DE47-8FCA-B8057EB318AE}"/>
              </c:ext>
            </c:extLst>
          </c:dPt>
          <c:dPt>
            <c:idx val="1"/>
            <c:bubble3D val="0"/>
            <c:spPr>
              <a:solidFill>
                <a:srgbClr val="00AEB6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4BB9-DE47-8FCA-B8057EB318AE}"/>
              </c:ext>
            </c:extLst>
          </c:dPt>
          <c:dPt>
            <c:idx val="2"/>
            <c:bubble3D val="0"/>
            <c:spPr>
              <a:solidFill>
                <a:srgbClr val="FCB61A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4BB9-DE47-8FCA-B8057EB318AE}"/>
              </c:ext>
            </c:extLst>
          </c:dPt>
          <c:dPt>
            <c:idx val="3"/>
            <c:bubble3D val="0"/>
            <c:spPr>
              <a:solidFill>
                <a:srgbClr val="B2AC16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7-4BB9-DE47-8FCA-B8057EB318AE}"/>
              </c:ext>
            </c:extLst>
          </c:dPt>
          <c:dLbls>
            <c:delete val="1"/>
          </c:dLbls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5.4</c:v>
                </c:pt>
                <c:pt idx="3">
                  <c:v>1.2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8-4BB9-DE47-8FCA-B8057EB318AE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270"/>
        <c:holeSize val="5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rgbClr val="A80432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D168-5244-AD88-787F1EECC561}"/>
              </c:ext>
            </c:extLst>
          </c:dPt>
          <c:dPt>
            <c:idx val="1"/>
            <c:bubble3D val="0"/>
            <c:spPr>
              <a:solidFill>
                <a:srgbClr val="B2AC16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D168-5244-AD88-787F1EECC561}"/>
              </c:ext>
            </c:extLst>
          </c:dPt>
          <c:dPt>
            <c:idx val="2"/>
            <c:bubble3D val="0"/>
            <c:spPr>
              <a:solidFill>
                <a:srgbClr val="FCB61A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D168-5244-AD88-787F1EECC561}"/>
              </c:ext>
            </c:extLst>
          </c:dPt>
          <c:dPt>
            <c:idx val="3"/>
            <c:bubble3D val="0"/>
            <c:spPr>
              <a:solidFill>
                <a:srgbClr val="00AEB6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7-D168-5244-AD88-787F1EECC561}"/>
              </c:ext>
            </c:extLst>
          </c:dPt>
          <c:dLbls>
            <c:delete val="1"/>
          </c:dLbls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8-D168-5244-AD88-787F1EECC561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4600305737010862E-2"/>
          <c:y val="1.8784892389905473E-2"/>
          <c:w val="0.9553996942629891"/>
          <c:h val="0.82648626496226985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63500" cap="rnd">
              <a:solidFill>
                <a:srgbClr val="00AEB6"/>
              </a:solidFill>
              <a:round/>
            </a:ln>
            <a:effectLst>
              <a:outerShdw sx="1000" sy="1000" rotWithShape="0">
                <a:srgbClr val="000000"/>
              </a:outerShdw>
            </a:effectLst>
          </c:spPr>
          <c:marker>
            <c:symbol val="none"/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0-0BE5-934C-8CFE-3134D5841C6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63500" cap="rnd">
              <a:solidFill>
                <a:srgbClr val="A80432"/>
              </a:solidFill>
              <a:round/>
            </a:ln>
            <a:effectLst>
              <a:outerShdw sx="1000" sy="1000" rotWithShape="0">
                <a:srgbClr val="000000"/>
              </a:outerShdw>
            </a:effectLst>
          </c:spPr>
          <c:marker>
            <c:symbol val="none"/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1-0BE5-934C-8CFE-3134D5841C6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63500" cap="rnd">
              <a:solidFill>
                <a:srgbClr val="FCB61A"/>
              </a:solidFill>
              <a:round/>
            </a:ln>
            <a:effectLst>
              <a:outerShdw sx="1000" sy="1000" rotWithShape="0">
                <a:srgbClr val="000000"/>
              </a:outerShdw>
            </a:effectLst>
          </c:spPr>
          <c:marker>
            <c:symbol val="none"/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2-0BE5-934C-8CFE-3134D5841C65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Series 32</c:v>
                </c:pt>
              </c:strCache>
            </c:strRef>
          </c:tx>
          <c:spPr>
            <a:ln w="63500" cap="rnd">
              <a:solidFill>
                <a:srgbClr val="B2AC16"/>
              </a:solidFill>
              <a:round/>
            </a:ln>
            <a:effectLst>
              <a:outerShdw sx="1000" sy="1000" rotWithShape="0">
                <a:srgbClr val="000000"/>
              </a:outerShdw>
            </a:effectLst>
          </c:spPr>
          <c:marker>
            <c:symbol val="none"/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6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3-0BE5-934C-8CFE-3134D5841C65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76374144"/>
        <c:axId val="176375680"/>
      </c:lineChart>
      <c:catAx>
        <c:axId val="1763741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6375680"/>
        <c:crosses val="autoZero"/>
        <c:auto val="1"/>
        <c:lblAlgn val="ctr"/>
        <c:lblOffset val="100"/>
        <c:noMultiLvlLbl val="0"/>
      </c:catAx>
      <c:valAx>
        <c:axId val="1763756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63741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rgbClr val="A80432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4BB9-DE47-8FCA-B8057EB318AE}"/>
              </c:ext>
            </c:extLst>
          </c:dPt>
          <c:dPt>
            <c:idx val="1"/>
            <c:bubble3D val="0"/>
            <c:spPr>
              <a:solidFill>
                <a:srgbClr val="00AEB6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4BB9-DE47-8FCA-B8057EB318AE}"/>
              </c:ext>
            </c:extLst>
          </c:dPt>
          <c:dPt>
            <c:idx val="2"/>
            <c:bubble3D val="0"/>
            <c:spPr>
              <a:solidFill>
                <a:srgbClr val="FCB61A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4BB9-DE47-8FCA-B8057EB318AE}"/>
              </c:ext>
            </c:extLst>
          </c:dPt>
          <c:dPt>
            <c:idx val="3"/>
            <c:bubble3D val="0"/>
            <c:spPr>
              <a:solidFill>
                <a:srgbClr val="B2AC16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7-4BB9-DE47-8FCA-B8057EB318AE}"/>
              </c:ext>
            </c:extLst>
          </c:dPt>
          <c:dLbls>
            <c:delete val="1"/>
          </c:dLbls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5.4</c:v>
                </c:pt>
                <c:pt idx="3">
                  <c:v>1.2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8-4BB9-DE47-8FCA-B8057EB318AE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270"/>
        <c:holeSize val="5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rgbClr val="A80432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D168-5244-AD88-787F1EECC561}"/>
              </c:ext>
            </c:extLst>
          </c:dPt>
          <c:dPt>
            <c:idx val="1"/>
            <c:bubble3D val="0"/>
            <c:spPr>
              <a:solidFill>
                <a:srgbClr val="B2AC16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D168-5244-AD88-787F1EECC561}"/>
              </c:ext>
            </c:extLst>
          </c:dPt>
          <c:dPt>
            <c:idx val="2"/>
            <c:bubble3D val="0"/>
            <c:spPr>
              <a:solidFill>
                <a:srgbClr val="FCB61A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D168-5244-AD88-787F1EECC561}"/>
              </c:ext>
            </c:extLst>
          </c:dPt>
          <c:dPt>
            <c:idx val="3"/>
            <c:bubble3D val="0"/>
            <c:spPr>
              <a:solidFill>
                <a:srgbClr val="00AEB6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7-D168-5244-AD88-787F1EECC561}"/>
              </c:ext>
            </c:extLst>
          </c:dPt>
          <c:dLbls>
            <c:delete val="1"/>
          </c:dLbls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8-D168-5244-AD88-787F1EECC561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91840" y="5387342"/>
            <a:ext cx="37307520" cy="11460480"/>
          </a:xfrm>
        </p:spPr>
        <p:txBody>
          <a:bodyPr anchor="b"/>
          <a:lstStyle>
            <a:lvl1pPr algn="ctr">
              <a:defRPr sz="28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0" y="17289782"/>
            <a:ext cx="32918400" cy="7947658"/>
          </a:xfrm>
        </p:spPr>
        <p:txBody>
          <a:bodyPr/>
          <a:lstStyle>
            <a:lvl1pPr marL="0" indent="0" algn="ctr">
              <a:buNone/>
              <a:defRPr sz="11520"/>
            </a:lvl1pPr>
            <a:lvl2pPr marL="2194560" indent="0" algn="ctr">
              <a:buNone/>
              <a:defRPr sz="9600"/>
            </a:lvl2pPr>
            <a:lvl3pPr marL="4389120" indent="0" algn="ctr">
              <a:buNone/>
              <a:defRPr sz="8640"/>
            </a:lvl3pPr>
            <a:lvl4pPr marL="6583680" indent="0" algn="ctr">
              <a:buNone/>
              <a:defRPr sz="7680"/>
            </a:lvl4pPr>
            <a:lvl5pPr marL="8778240" indent="0" algn="ctr">
              <a:buNone/>
              <a:defRPr sz="7680"/>
            </a:lvl5pPr>
            <a:lvl6pPr marL="10972800" indent="0" algn="ctr">
              <a:buNone/>
              <a:defRPr sz="7680"/>
            </a:lvl6pPr>
            <a:lvl7pPr marL="13167360" indent="0" algn="ctr">
              <a:buNone/>
              <a:defRPr sz="7680"/>
            </a:lvl7pPr>
            <a:lvl8pPr marL="15361920" indent="0" algn="ctr">
              <a:buNone/>
              <a:defRPr sz="7680"/>
            </a:lvl8pPr>
            <a:lvl9pPr marL="17556480" indent="0" algn="ctr">
              <a:buNone/>
              <a:defRPr sz="76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FB4AB-9BC1-CE45-86A6-BBCC9E970F2D}" type="datetimeFigureOut">
              <a:rPr lang="en-US" smtClean="0"/>
              <a:t>02-Apr-26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04D03-15AE-0741-960A-6ECF5B5D3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8868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FB4AB-9BC1-CE45-86A6-BBCC9E970F2D}" type="datetimeFigureOut">
              <a:rPr lang="en-US" smtClean="0"/>
              <a:t>02-Apr-26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04D03-15AE-0741-960A-6ECF5B5D3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555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4662" y="8206749"/>
            <a:ext cx="37856160" cy="13693138"/>
          </a:xfrm>
        </p:spPr>
        <p:txBody>
          <a:bodyPr anchor="b"/>
          <a:lstStyle>
            <a:lvl1pPr>
              <a:defRPr sz="28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94662" y="22029429"/>
            <a:ext cx="37856160" cy="7200898"/>
          </a:xfrm>
        </p:spPr>
        <p:txBody>
          <a:bodyPr/>
          <a:lstStyle>
            <a:lvl1pPr marL="0" indent="0">
              <a:buNone/>
              <a:defRPr sz="11520">
                <a:solidFill>
                  <a:schemeClr val="tx1"/>
                </a:solidFill>
              </a:defRPr>
            </a:lvl1pPr>
            <a:lvl2pPr marL="2194560" indent="0">
              <a:buNone/>
              <a:defRPr sz="9600">
                <a:solidFill>
                  <a:schemeClr val="tx1">
                    <a:tint val="75000"/>
                  </a:schemeClr>
                </a:solidFill>
              </a:defRPr>
            </a:lvl2pPr>
            <a:lvl3pPr marL="4389120" indent="0">
              <a:buNone/>
              <a:defRPr sz="8640">
                <a:solidFill>
                  <a:schemeClr val="tx1">
                    <a:tint val="75000"/>
                  </a:schemeClr>
                </a:solidFill>
              </a:defRPr>
            </a:lvl3pPr>
            <a:lvl4pPr marL="658368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4pPr>
            <a:lvl5pPr marL="877824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5pPr>
            <a:lvl6pPr marL="1097280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6pPr>
            <a:lvl7pPr marL="1316736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7pPr>
            <a:lvl8pPr marL="1536192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8pPr>
            <a:lvl9pPr marL="1755648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FB4AB-9BC1-CE45-86A6-BBCC9E970F2D}" type="datetimeFigureOut">
              <a:rPr lang="en-US" smtClean="0"/>
              <a:t>02-Apr-26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04D03-15AE-0741-960A-6ECF5B5D3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069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17520" y="8763000"/>
            <a:ext cx="1865376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219920" y="8763000"/>
            <a:ext cx="1865376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FB4AB-9BC1-CE45-86A6-BBCC9E970F2D}" type="datetimeFigureOut">
              <a:rPr lang="en-US" smtClean="0"/>
              <a:t>02-Apr-26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04D03-15AE-0741-960A-6ECF5B5D3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813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1752607"/>
            <a:ext cx="37856160" cy="6362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23242" y="8069582"/>
            <a:ext cx="18568032" cy="3954778"/>
          </a:xfrm>
        </p:spPr>
        <p:txBody>
          <a:bodyPr anchor="b"/>
          <a:lstStyle>
            <a:lvl1pPr marL="0" indent="0">
              <a:buNone/>
              <a:defRPr sz="1152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40" b="1"/>
            </a:lvl3pPr>
            <a:lvl4pPr marL="6583680" indent="0">
              <a:buNone/>
              <a:defRPr sz="7680" b="1"/>
            </a:lvl4pPr>
            <a:lvl5pPr marL="8778240" indent="0">
              <a:buNone/>
              <a:defRPr sz="7680" b="1"/>
            </a:lvl5pPr>
            <a:lvl6pPr marL="10972800" indent="0">
              <a:buNone/>
              <a:defRPr sz="7680" b="1"/>
            </a:lvl6pPr>
            <a:lvl7pPr marL="13167360" indent="0">
              <a:buNone/>
              <a:defRPr sz="7680" b="1"/>
            </a:lvl7pPr>
            <a:lvl8pPr marL="15361920" indent="0">
              <a:buNone/>
              <a:defRPr sz="7680" b="1"/>
            </a:lvl8pPr>
            <a:lvl9pPr marL="17556480" indent="0">
              <a:buNone/>
              <a:defRPr sz="7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23242" y="12024360"/>
            <a:ext cx="18568032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219922" y="8069582"/>
            <a:ext cx="18659477" cy="3954778"/>
          </a:xfrm>
        </p:spPr>
        <p:txBody>
          <a:bodyPr anchor="b"/>
          <a:lstStyle>
            <a:lvl1pPr marL="0" indent="0">
              <a:buNone/>
              <a:defRPr sz="1152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40" b="1"/>
            </a:lvl3pPr>
            <a:lvl4pPr marL="6583680" indent="0">
              <a:buNone/>
              <a:defRPr sz="7680" b="1"/>
            </a:lvl4pPr>
            <a:lvl5pPr marL="8778240" indent="0">
              <a:buNone/>
              <a:defRPr sz="7680" b="1"/>
            </a:lvl5pPr>
            <a:lvl6pPr marL="10972800" indent="0">
              <a:buNone/>
              <a:defRPr sz="7680" b="1"/>
            </a:lvl6pPr>
            <a:lvl7pPr marL="13167360" indent="0">
              <a:buNone/>
              <a:defRPr sz="7680" b="1"/>
            </a:lvl7pPr>
            <a:lvl8pPr marL="15361920" indent="0">
              <a:buNone/>
              <a:defRPr sz="7680" b="1"/>
            </a:lvl8pPr>
            <a:lvl9pPr marL="17556480" indent="0">
              <a:buNone/>
              <a:defRPr sz="7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219922" y="12024360"/>
            <a:ext cx="18659477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FB4AB-9BC1-CE45-86A6-BBCC9E970F2D}" type="datetimeFigureOut">
              <a:rPr lang="en-US" smtClean="0"/>
              <a:t>02-Apr-26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04D03-15AE-0741-960A-6ECF5B5D3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6328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FB4AB-9BC1-CE45-86A6-BBCC9E970F2D}" type="datetimeFigureOut">
              <a:rPr lang="en-US" smtClean="0"/>
              <a:t>02-Apr-26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04D03-15AE-0741-960A-6ECF5B5D3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934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FB4AB-9BC1-CE45-86A6-BBCC9E970F2D}" type="datetimeFigureOut">
              <a:rPr lang="en-US" smtClean="0"/>
              <a:t>02-Apr-26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04D03-15AE-0741-960A-6ECF5B5D3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0158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2194560"/>
            <a:ext cx="14156054" cy="7680960"/>
          </a:xfrm>
        </p:spPr>
        <p:txBody>
          <a:bodyPr anchor="b"/>
          <a:lstStyle>
            <a:lvl1pPr>
              <a:defRPr sz="153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659477" y="4739647"/>
            <a:ext cx="22219920" cy="23393400"/>
          </a:xfrm>
        </p:spPr>
        <p:txBody>
          <a:bodyPr/>
          <a:lstStyle>
            <a:lvl1pPr>
              <a:defRPr sz="15360"/>
            </a:lvl1pPr>
            <a:lvl2pPr>
              <a:defRPr sz="13440"/>
            </a:lvl2pPr>
            <a:lvl3pPr>
              <a:defRPr sz="11520"/>
            </a:lvl3pPr>
            <a:lvl4pPr>
              <a:defRPr sz="9600"/>
            </a:lvl4pPr>
            <a:lvl5pPr>
              <a:defRPr sz="9600"/>
            </a:lvl5pPr>
            <a:lvl6pPr>
              <a:defRPr sz="9600"/>
            </a:lvl6pPr>
            <a:lvl7pPr>
              <a:defRPr sz="9600"/>
            </a:lvl7pPr>
            <a:lvl8pPr>
              <a:defRPr sz="9600"/>
            </a:lvl8pPr>
            <a:lvl9pPr>
              <a:defRPr sz="9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23237" y="9875520"/>
            <a:ext cx="14156054" cy="18295622"/>
          </a:xfrm>
        </p:spPr>
        <p:txBody>
          <a:bodyPr/>
          <a:lstStyle>
            <a:lvl1pPr marL="0" indent="0">
              <a:buNone/>
              <a:defRPr sz="7680"/>
            </a:lvl1pPr>
            <a:lvl2pPr marL="2194560" indent="0">
              <a:buNone/>
              <a:defRPr sz="6720"/>
            </a:lvl2pPr>
            <a:lvl3pPr marL="4389120" indent="0">
              <a:buNone/>
              <a:defRPr sz="5760"/>
            </a:lvl3pPr>
            <a:lvl4pPr marL="6583680" indent="0">
              <a:buNone/>
              <a:defRPr sz="4800"/>
            </a:lvl4pPr>
            <a:lvl5pPr marL="8778240" indent="0">
              <a:buNone/>
              <a:defRPr sz="4800"/>
            </a:lvl5pPr>
            <a:lvl6pPr marL="10972800" indent="0">
              <a:buNone/>
              <a:defRPr sz="4800"/>
            </a:lvl6pPr>
            <a:lvl7pPr marL="13167360" indent="0">
              <a:buNone/>
              <a:defRPr sz="4800"/>
            </a:lvl7pPr>
            <a:lvl8pPr marL="15361920" indent="0">
              <a:buNone/>
              <a:defRPr sz="4800"/>
            </a:lvl8pPr>
            <a:lvl9pPr marL="17556480" indent="0">
              <a:buNone/>
              <a:defRPr sz="4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FB4AB-9BC1-CE45-86A6-BBCC9E970F2D}" type="datetimeFigureOut">
              <a:rPr lang="en-US" smtClean="0"/>
              <a:t>02-Apr-26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04D03-15AE-0741-960A-6ECF5B5D3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043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2194560"/>
            <a:ext cx="14156054" cy="7680960"/>
          </a:xfrm>
        </p:spPr>
        <p:txBody>
          <a:bodyPr anchor="b"/>
          <a:lstStyle>
            <a:lvl1pPr>
              <a:defRPr sz="153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8659477" y="4739647"/>
            <a:ext cx="22219920" cy="23393400"/>
          </a:xfrm>
        </p:spPr>
        <p:txBody>
          <a:bodyPr anchor="t"/>
          <a:lstStyle>
            <a:lvl1pPr marL="0" indent="0">
              <a:buNone/>
              <a:defRPr sz="15360"/>
            </a:lvl1pPr>
            <a:lvl2pPr marL="2194560" indent="0">
              <a:buNone/>
              <a:defRPr sz="13440"/>
            </a:lvl2pPr>
            <a:lvl3pPr marL="4389120" indent="0">
              <a:buNone/>
              <a:defRPr sz="11520"/>
            </a:lvl3pPr>
            <a:lvl4pPr marL="6583680" indent="0">
              <a:buNone/>
              <a:defRPr sz="9600"/>
            </a:lvl4pPr>
            <a:lvl5pPr marL="8778240" indent="0">
              <a:buNone/>
              <a:defRPr sz="9600"/>
            </a:lvl5pPr>
            <a:lvl6pPr marL="10972800" indent="0">
              <a:buNone/>
              <a:defRPr sz="9600"/>
            </a:lvl6pPr>
            <a:lvl7pPr marL="13167360" indent="0">
              <a:buNone/>
              <a:defRPr sz="9600"/>
            </a:lvl7pPr>
            <a:lvl8pPr marL="15361920" indent="0">
              <a:buNone/>
              <a:defRPr sz="9600"/>
            </a:lvl8pPr>
            <a:lvl9pPr marL="17556480" indent="0">
              <a:buNone/>
              <a:defRPr sz="9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23237" y="9875520"/>
            <a:ext cx="14156054" cy="18295622"/>
          </a:xfrm>
        </p:spPr>
        <p:txBody>
          <a:bodyPr/>
          <a:lstStyle>
            <a:lvl1pPr marL="0" indent="0">
              <a:buNone/>
              <a:defRPr sz="7680"/>
            </a:lvl1pPr>
            <a:lvl2pPr marL="2194560" indent="0">
              <a:buNone/>
              <a:defRPr sz="6720"/>
            </a:lvl2pPr>
            <a:lvl3pPr marL="4389120" indent="0">
              <a:buNone/>
              <a:defRPr sz="5760"/>
            </a:lvl3pPr>
            <a:lvl4pPr marL="6583680" indent="0">
              <a:buNone/>
              <a:defRPr sz="4800"/>
            </a:lvl4pPr>
            <a:lvl5pPr marL="8778240" indent="0">
              <a:buNone/>
              <a:defRPr sz="4800"/>
            </a:lvl5pPr>
            <a:lvl6pPr marL="10972800" indent="0">
              <a:buNone/>
              <a:defRPr sz="4800"/>
            </a:lvl6pPr>
            <a:lvl7pPr marL="13167360" indent="0">
              <a:buNone/>
              <a:defRPr sz="4800"/>
            </a:lvl7pPr>
            <a:lvl8pPr marL="15361920" indent="0">
              <a:buNone/>
              <a:defRPr sz="4800"/>
            </a:lvl8pPr>
            <a:lvl9pPr marL="17556480" indent="0">
              <a:buNone/>
              <a:defRPr sz="4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FB4AB-9BC1-CE45-86A6-BBCC9E970F2D}" type="datetimeFigureOut">
              <a:rPr lang="en-US" smtClean="0"/>
              <a:t>02-Apr-26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04D03-15AE-0741-960A-6ECF5B5D3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432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FB4AB-9BC1-CE45-86A6-BBCC9E970F2D}" type="datetimeFigureOut">
              <a:rPr lang="en-US" smtClean="0"/>
              <a:t>02-Apr-26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04D03-15AE-0741-960A-6ECF5B5D3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0141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1409642" y="1752600"/>
            <a:ext cx="9464040" cy="2789682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17522" y="1752600"/>
            <a:ext cx="27843480" cy="2789682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FB4AB-9BC1-CE45-86A6-BBCC9E970F2D}" type="datetimeFigureOut">
              <a:rPr lang="en-US" smtClean="0"/>
              <a:t>02-Apr-26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04D03-15AE-0741-960A-6ECF5B5D3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40853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17520" y="1752607"/>
            <a:ext cx="37856160" cy="6362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0" y="8763000"/>
            <a:ext cx="37856160" cy="208864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17520" y="30510487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7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1FB4AB-9BC1-CE45-86A6-BBCC9E970F2D}" type="datetimeFigureOut">
              <a:rPr lang="en-US" smtClean="0"/>
              <a:t>02-Apr-26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38960" y="30510487"/>
            <a:ext cx="1481328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7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0998160" y="30510487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7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504D03-15AE-0741-960A-6ECF5B5D3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141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389120" rtl="0" eaLnBrk="1" latinLnBrk="0" hangingPunct="1">
        <a:lnSpc>
          <a:spcPct val="90000"/>
        </a:lnSpc>
        <a:spcBef>
          <a:spcPct val="0"/>
        </a:spcBef>
        <a:buNone/>
        <a:defRPr sz="211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97280" indent="-1097280" algn="l" defTabSz="4389120" rtl="0" eaLnBrk="1" latinLnBrk="0" hangingPunct="1">
        <a:lnSpc>
          <a:spcPct val="90000"/>
        </a:lnSpc>
        <a:spcBef>
          <a:spcPts val="4800"/>
        </a:spcBef>
        <a:buFont typeface="Arial" panose="020B0604020202020204" pitchFamily="34" charset="0"/>
        <a:buChar char="•"/>
        <a:defRPr sz="13440" kern="1200">
          <a:solidFill>
            <a:schemeClr val="tx1"/>
          </a:solidFill>
          <a:latin typeface="+mn-lt"/>
          <a:ea typeface="+mn-ea"/>
          <a:cs typeface="+mn-cs"/>
        </a:defRPr>
      </a:lvl1pPr>
      <a:lvl2pPr marL="329184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1152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3pPr>
      <a:lvl4pPr marL="768096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4pPr>
      <a:lvl5pPr marL="987552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5pPr>
      <a:lvl6pPr marL="1207008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6pPr>
      <a:lvl7pPr marL="1426464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7pPr>
      <a:lvl8pPr marL="1645920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8pPr>
      <a:lvl9pPr marL="1865376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1pPr>
      <a:lvl2pPr marL="219456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2pPr>
      <a:lvl3pPr marL="438912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3pPr>
      <a:lvl4pPr marL="658368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4pPr>
      <a:lvl5pPr marL="877824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6pPr>
      <a:lvl7pPr marL="1316736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7pPr>
      <a:lvl8pPr marL="1536192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8pPr>
      <a:lvl9pPr marL="1755648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Relationship Id="rId5" Type="http://schemas.openxmlformats.org/officeDocument/2006/relationships/image" Target="../media/image1.jpeg"/><Relationship Id="rId6" Type="http://schemas.openxmlformats.org/officeDocument/2006/relationships/image" Target="../media/image2.png"/><Relationship Id="rId7" Type="http://schemas.openxmlformats.org/officeDocument/2006/relationships/image" Target="../media/image3.png"/><Relationship Id="rId8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4.xml"/><Relationship Id="rId3" Type="http://schemas.openxmlformats.org/officeDocument/2006/relationships/chart" Target="../charts/chart5.xml"/><Relationship Id="rId4" Type="http://schemas.openxmlformats.org/officeDocument/2006/relationships/chart" Target="../charts/chart6.xml"/><Relationship Id="rId5" Type="http://schemas.openxmlformats.org/officeDocument/2006/relationships/image" Target="../media/image1.jpe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Box 41"/>
          <p:cNvSpPr txBox="1"/>
          <p:nvPr/>
        </p:nvSpPr>
        <p:spPr>
          <a:xfrm>
            <a:off x="29324604" y="4702821"/>
            <a:ext cx="14101483" cy="27263874"/>
          </a:xfrm>
          <a:prstGeom prst="rect">
            <a:avLst/>
          </a:prstGeom>
          <a:noFill/>
          <a:ln>
            <a:gradFill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miter lim="800000"/>
          </a:ln>
        </p:spPr>
        <p:txBody>
          <a:bodyPr wrap="square" rtlCol="0">
            <a:spAutoFit/>
          </a:bodyPr>
          <a:lstStyle/>
          <a:p>
            <a:r>
              <a:t>Results and discussion</a:t>
            </a:r>
          </a:p>
          <a:p>
            <a:r>
              <a:t>- Best model accuracy (current run): 0.56 (Stacking Ensemble).</a:t>
            </a:r>
          </a:p>
          <a:p>
            <a:r>
              <a:t>- Existing single-model average accuracy: 0.5333.</a:t>
            </a:r>
          </a:p>
          <a:p>
            <a:r>
              <a:t>- Proposed ensemble improves robustness and prediction consistency.</a:t>
            </a:r>
          </a:p>
          <a:p/>
          <a:p>
            <a:r>
              <a:t>Conclusion</a:t>
            </a:r>
          </a:p>
          <a:p>
            <a:r>
              <a:t>AccidentZero AI successfully predicts safety risk and can support proactive industrial decision making.</a:t>
            </a:r>
          </a:p>
          <a:p/>
          <a:p>
            <a:r>
              <a:t>Future enhancement</a:t>
            </a:r>
          </a:p>
          <a:p>
            <a:r>
              <a:t>- Add SHAP explainability and drift monitoring.</a:t>
            </a:r>
          </a:p>
          <a:p>
            <a:r>
              <a:t>- Integrate streaming IoT safety signals.</a:t>
            </a:r>
          </a:p>
          <a:p/>
          <a:p>
            <a:r>
              <a:t>References</a:t>
            </a:r>
          </a:p>
          <a:p>
            <a:r>
              <a:t>1. Chen &amp; Guestrin, XGBoost (KDD 2016)</a:t>
            </a:r>
          </a:p>
          <a:p>
            <a:r>
              <a:t>2. Ke et al., LightGBM (NeurIPS 2017)</a:t>
            </a:r>
          </a:p>
          <a:p>
            <a:r>
              <a:t>3. Prokhorenkova et al., CatBoost (NeurIPS 2018)</a:t>
            </a:r>
          </a:p>
        </p:txBody>
      </p:sp>
      <p:sp>
        <p:nvSpPr>
          <p:cNvPr id="6" name="object 3">
            <a:extLst>
              <a:ext uri="{FF2B5EF4-FFF2-40B4-BE49-F238E27FC236}">
                <a16:creationId xmlns="" xmlns:a16="http://schemas.microsoft.com/office/drawing/2014/main" id="{E3E3A997-AC34-4F4F-AB70-E535DDD5B7DE}"/>
              </a:ext>
            </a:extLst>
          </p:cNvPr>
          <p:cNvSpPr/>
          <p:nvPr/>
        </p:nvSpPr>
        <p:spPr>
          <a:xfrm>
            <a:off x="0" y="-349622"/>
            <a:ext cx="43891200" cy="3657253"/>
          </a:xfrm>
          <a:custGeom>
            <a:avLst/>
            <a:gdLst/>
            <a:ahLst/>
            <a:cxnLst/>
            <a:rect l="l" t="t" r="r" b="b"/>
            <a:pathLst>
              <a:path w="20104100" h="2233930">
                <a:moveTo>
                  <a:pt x="0" y="2233788"/>
                </a:moveTo>
                <a:lnTo>
                  <a:pt x="20104099" y="2233788"/>
                </a:lnTo>
                <a:lnTo>
                  <a:pt x="20104099" y="0"/>
                </a:lnTo>
                <a:lnTo>
                  <a:pt x="0" y="0"/>
                </a:lnTo>
                <a:lnTo>
                  <a:pt x="0" y="2233788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 sz="4825"/>
          </a:p>
        </p:txBody>
      </p:sp>
      <p:sp>
        <p:nvSpPr>
          <p:cNvPr id="7" name="object 4">
            <a:extLst>
              <a:ext uri="{FF2B5EF4-FFF2-40B4-BE49-F238E27FC236}">
                <a16:creationId xmlns="" xmlns:a16="http://schemas.microsoft.com/office/drawing/2014/main" id="{1E7FBB64-4D0D-0A4B-90FA-4E80427AEDDE}"/>
              </a:ext>
            </a:extLst>
          </p:cNvPr>
          <p:cNvSpPr txBox="1">
            <a:spLocks/>
          </p:cNvSpPr>
          <p:nvPr/>
        </p:nvSpPr>
        <p:spPr>
          <a:xfrm>
            <a:off x="9429485" y="126527"/>
            <a:ext cx="22413150" cy="1017141"/>
          </a:xfrm>
          <a:prstGeom prst="rect">
            <a:avLst/>
          </a:prstGeom>
        </p:spPr>
        <p:txBody>
          <a:bodyPr vert="horz" wrap="square" lIns="0" tIns="19752" rIns="0" bIns="0" rtlCol="0" anchor="b">
            <a:spAutoFit/>
          </a:bodyPr>
          <a:lstStyle>
            <a:lvl1pPr algn="ctr" defTabSz="438912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t>AccidentZero AI: Intelligent Safety Risk Monitoring</a:t>
            </a:r>
          </a:p>
        </p:txBody>
      </p:sp>
      <p:sp>
        <p:nvSpPr>
          <p:cNvPr id="9" name="object 6">
            <a:extLst>
              <a:ext uri="{FF2B5EF4-FFF2-40B4-BE49-F238E27FC236}">
                <a16:creationId xmlns="" xmlns:a16="http://schemas.microsoft.com/office/drawing/2014/main" id="{0E51A11A-3A38-D04C-9B83-12833A3C48F8}"/>
              </a:ext>
            </a:extLst>
          </p:cNvPr>
          <p:cNvSpPr txBox="1"/>
          <p:nvPr/>
        </p:nvSpPr>
        <p:spPr>
          <a:xfrm>
            <a:off x="10744200" y="1239476"/>
            <a:ext cx="17800475" cy="642846"/>
          </a:xfrm>
          <a:prstGeom prst="rect">
            <a:avLst/>
          </a:prstGeom>
        </p:spPr>
        <p:txBody>
          <a:bodyPr vert="horz" wrap="square" lIns="0" tIns="27029" rIns="0" bIns="0" rtlCol="0">
            <a:spAutoFit/>
          </a:bodyPr>
          <a:lstStyle/>
          <a:p>
            <a:r>
              <a:t>Student Name (Reg. No.): __________________</a:t>
            </a:r>
          </a:p>
        </p:txBody>
      </p:sp>
      <p:sp>
        <p:nvSpPr>
          <p:cNvPr id="54" name="object 11">
            <a:extLst>
              <a:ext uri="{FF2B5EF4-FFF2-40B4-BE49-F238E27FC236}">
                <a16:creationId xmlns="" xmlns:a16="http://schemas.microsoft.com/office/drawing/2014/main" id="{EDFC8681-2751-864D-AD18-6901FD6462C2}"/>
              </a:ext>
            </a:extLst>
          </p:cNvPr>
          <p:cNvSpPr txBox="1"/>
          <p:nvPr/>
        </p:nvSpPr>
        <p:spPr>
          <a:xfrm>
            <a:off x="32229007" y="21095422"/>
            <a:ext cx="9829800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t>Figure: Model accuracy comparison</a:t>
            </a:r>
          </a:p>
        </p:txBody>
      </p:sp>
      <p:graphicFrame>
        <p:nvGraphicFramePr>
          <p:cNvPr id="55" name="Chart 54">
            <a:extLst>
              <a:ext uri="{FF2B5EF4-FFF2-40B4-BE49-F238E27FC236}">
                <a16:creationId xmlns="" xmlns:a16="http://schemas.microsoft.com/office/drawing/2014/main" id="{0A1EC19B-A6C2-4043-8D0B-30A34670C24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06964246"/>
              </p:ext>
            </p:extLst>
          </p:nvPr>
        </p:nvGraphicFramePr>
        <p:xfrm>
          <a:off x="32746739" y="15771792"/>
          <a:ext cx="9871883" cy="49387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0" name="Chart 59">
            <a:extLst>
              <a:ext uri="{FF2B5EF4-FFF2-40B4-BE49-F238E27FC236}">
                <a16:creationId xmlns="" xmlns:a16="http://schemas.microsoft.com/office/drawing/2014/main" id="{BBC4230B-CCAA-B642-B968-26C92D08E3D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1352975"/>
              </p:ext>
            </p:extLst>
          </p:nvPr>
        </p:nvGraphicFramePr>
        <p:xfrm>
          <a:off x="31770242" y="10162575"/>
          <a:ext cx="4582316" cy="45823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1" name="Chart 60">
            <a:extLst>
              <a:ext uri="{FF2B5EF4-FFF2-40B4-BE49-F238E27FC236}">
                <a16:creationId xmlns="" xmlns:a16="http://schemas.microsoft.com/office/drawing/2014/main" id="{287D039C-E96B-BA4C-8B74-8F8FBCAA1DB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92081265"/>
              </p:ext>
            </p:extLst>
          </p:nvPr>
        </p:nvGraphicFramePr>
        <p:xfrm>
          <a:off x="37143907" y="10181202"/>
          <a:ext cx="4582316" cy="45823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29" name="Picture 28" descr="See the source image"/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2202"/>
            <a:ext cx="8767482" cy="2963662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object 6">
            <a:extLst>
              <a:ext uri="{FF2B5EF4-FFF2-40B4-BE49-F238E27FC236}">
                <a16:creationId xmlns="" xmlns:a16="http://schemas.microsoft.com/office/drawing/2014/main" id="{0E51A11A-3A38-D04C-9B83-12833A3C48F8}"/>
              </a:ext>
            </a:extLst>
          </p:cNvPr>
          <p:cNvSpPr txBox="1"/>
          <p:nvPr/>
        </p:nvSpPr>
        <p:spPr>
          <a:xfrm>
            <a:off x="10896600" y="1849074"/>
            <a:ext cx="17800475" cy="642846"/>
          </a:xfrm>
          <a:prstGeom prst="rect">
            <a:avLst/>
          </a:prstGeom>
        </p:spPr>
        <p:txBody>
          <a:bodyPr vert="horz" wrap="square" lIns="0" tIns="27029" rIns="0" bIns="0" rtlCol="0">
            <a:spAutoFit/>
          </a:bodyPr>
          <a:lstStyle/>
          <a:p>
            <a:r>
              <a:t>Guide Name: __________________</a:t>
            </a:r>
          </a:p>
        </p:txBody>
      </p:sp>
      <p:sp>
        <p:nvSpPr>
          <p:cNvPr id="33" name="object 6">
            <a:extLst>
              <a:ext uri="{FF2B5EF4-FFF2-40B4-BE49-F238E27FC236}">
                <a16:creationId xmlns="" xmlns:a16="http://schemas.microsoft.com/office/drawing/2014/main" id="{0E51A11A-3A38-D04C-9B83-12833A3C48F8}"/>
              </a:ext>
            </a:extLst>
          </p:cNvPr>
          <p:cNvSpPr txBox="1"/>
          <p:nvPr/>
        </p:nvSpPr>
        <p:spPr>
          <a:xfrm>
            <a:off x="10941424" y="2539354"/>
            <a:ext cx="17800475" cy="642846"/>
          </a:xfrm>
          <a:prstGeom prst="rect">
            <a:avLst/>
          </a:prstGeom>
        </p:spPr>
        <p:txBody>
          <a:bodyPr vert="horz" wrap="square" lIns="0" tIns="27029" rIns="0" bIns="0" rtlCol="0">
            <a:spAutoFit/>
          </a:bodyPr>
          <a:lstStyle/>
          <a:p>
            <a:r>
              <a:t>School Name: __________________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8916" y="4590627"/>
            <a:ext cx="14101483" cy="27217707"/>
          </a:xfrm>
          <a:prstGeom prst="rect">
            <a:avLst/>
          </a:prstGeom>
          <a:noFill/>
          <a:ln>
            <a:gradFill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miter lim="800000"/>
          </a:ln>
        </p:spPr>
        <p:txBody>
          <a:bodyPr wrap="square" rtlCol="0">
            <a:spAutoFit/>
          </a:bodyPr>
          <a:lstStyle/>
          <a:p>
            <a:r>
              <a:t>INTRODUCTION</a:t>
            </a:r>
          </a:p>
          <a:p>
            <a:r>
              <a:t>Industrial accidents are caused by interacting human, equipment, and environment factors. This project builds a machine learning safety intelligence system to predict accident risk before incidents occur.</a:t>
            </a:r>
          </a:p>
          <a:p/>
          <a:p>
            <a:r>
              <a:t>Objectives</a:t>
            </a:r>
          </a:p>
          <a:p>
            <a:r>
              <a:t>- Build an end-to-end safety risk prediction pipeline.</a:t>
            </a:r>
          </a:p>
          <a:p>
            <a:r>
              <a:t>- Compare multiple ML models and ensemble methods.</a:t>
            </a:r>
          </a:p>
          <a:p>
            <a:r>
              <a:t>- Provide interpretable risk score and risk level outputs.</a:t>
            </a:r>
          </a:p>
          <a:p>
            <a:r>
              <a:t>- Support API and dashboard-based operational usage.</a:t>
            </a:r>
          </a:p>
          <a:p/>
          <a:p>
            <a:r>
              <a:t>SCOPE of the project</a:t>
            </a:r>
          </a:p>
          <a:p>
            <a:r>
              <a:t>- Works on CSV/Excel safety datasets.</a:t>
            </a:r>
          </a:p>
          <a:p>
            <a:r>
              <a:t>- Supports batch and real-time prediction.</a:t>
            </a:r>
          </a:p>
          <a:p>
            <a:r>
              <a:t>- Extensible for IoT integration and explainability modules.</a:t>
            </a:r>
          </a:p>
        </p:txBody>
      </p:sp>
      <p:sp>
        <p:nvSpPr>
          <p:cNvPr id="37" name="object 11">
            <a:extLst>
              <a:ext uri="{FF2B5EF4-FFF2-40B4-BE49-F238E27FC236}">
                <a16:creationId xmlns="" xmlns:a16="http://schemas.microsoft.com/office/drawing/2014/main" id="{EDFC8681-2751-864D-AD18-6901FD6462C2}"/>
              </a:ext>
            </a:extLst>
          </p:cNvPr>
          <p:cNvSpPr txBox="1"/>
          <p:nvPr/>
        </p:nvSpPr>
        <p:spPr>
          <a:xfrm>
            <a:off x="32229007" y="14837124"/>
            <a:ext cx="9829800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t>Figure: Proposed vs existing work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894858" y="4662345"/>
            <a:ext cx="14101483" cy="27186930"/>
          </a:xfrm>
          <a:prstGeom prst="rect">
            <a:avLst/>
          </a:prstGeom>
          <a:noFill/>
          <a:ln>
            <a:gradFill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miter lim="800000"/>
          </a:ln>
        </p:spPr>
        <p:txBody>
          <a:bodyPr wrap="square" rtlCol="0">
            <a:spAutoFit/>
          </a:bodyPr>
          <a:lstStyle/>
          <a:p>
            <a:r>
              <a:t>Methodology</a:t>
            </a:r>
          </a:p>
          <a:p>
            <a:r>
              <a:t>1) Data loading and validation</a:t>
            </a:r>
          </a:p>
          <a:p>
            <a:r>
              <a:t>2) Preprocessing: missing value handling, encoding, scaling</a:t>
            </a:r>
          </a:p>
          <a:p>
            <a:r>
              <a:t>3) Feature engineering: fatigue_index, equipment_risk, weather_severity</a:t>
            </a:r>
          </a:p>
          <a:p>
            <a:r>
              <a:t>4) Model training: XGBoost, LightGBM, CatBoost, HistGBM, ExtraTrees, Stacking</a:t>
            </a:r>
          </a:p>
          <a:p>
            <a:r>
              <a:t>5) Risk inference: ensemble_probability -&gt; risk_score -&gt; risk_level</a:t>
            </a:r>
          </a:p>
          <a:p/>
          <a:p>
            <a:r>
              <a:t>Dataset</a:t>
            </a:r>
          </a:p>
          <a:p>
            <a:r>
              <a:t>- File: data/safety_data.csv</a:t>
            </a:r>
          </a:p>
          <a:p>
            <a:r>
              <a:t>- 500 rows, 9 core columns + engineered features</a:t>
            </a:r>
          </a:p>
          <a:p/>
          <a:p>
            <a:r>
              <a:t>Working code</a:t>
            </a:r>
          </a:p>
          <a:p>
            <a:r>
              <a:t>- main.py, models/train_models.py, evaluation/evaluate_models.py, api/app.py</a:t>
            </a:r>
          </a:p>
          <a:p/>
          <a:p>
            <a:r>
              <a:t>Input/Output Example</a:t>
            </a:r>
          </a:p>
          <a:p>
            <a:r>
              <a:t>- Input: shift_hours, overtime_hours, experience, equipment_age, temperature, humidity, inspection_score</a:t>
            </a:r>
          </a:p>
          <a:p>
            <a:r>
              <a:t>- Output: ensemble_probability, risk_score, risk_level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55971" y="3075420"/>
            <a:ext cx="23979257" cy="1631216"/>
          </a:xfrm>
          <a:prstGeom prst="rect">
            <a:avLst/>
          </a:prstGeom>
          <a:noFill/>
          <a:ln>
            <a:gradFill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miter lim="800000"/>
          </a:ln>
        </p:spPr>
        <p:txBody>
          <a:bodyPr wrap="square" rtlCol="0">
            <a:spAutoFit/>
          </a:bodyPr>
          <a:lstStyle/>
          <a:p>
            <a:r>
              <a:t>GitHub link: Add your repository URL here</a:t>
            </a:r>
          </a:p>
        </p:txBody>
      </p:sp>
      <p:pic>
        <p:nvPicPr>
          <p:cNvPr id="62" name="Picture 61" descr="accuracy_table_grap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746739" y="15771792"/>
            <a:ext cx="9871883" cy="4938756"/>
          </a:xfrm>
          <a:prstGeom prst="rect">
            <a:avLst/>
          </a:prstGeom>
        </p:spPr>
      </p:pic>
      <p:pic>
        <p:nvPicPr>
          <p:cNvPr id="63" name="Picture 62" descr="proposed_vs_existing_graph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770242" y="10162575"/>
            <a:ext cx="4582316" cy="4582316"/>
          </a:xfrm>
          <a:prstGeom prst="rect">
            <a:avLst/>
          </a:prstGeom>
        </p:spPr>
      </p:pic>
      <p:pic>
        <p:nvPicPr>
          <p:cNvPr id="64" name="Picture 63" descr="Screenshot 2026-04-06 13193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143907" y="10181202"/>
            <a:ext cx="4582316" cy="4582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621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Box 41"/>
          <p:cNvSpPr txBox="1"/>
          <p:nvPr/>
        </p:nvSpPr>
        <p:spPr>
          <a:xfrm>
            <a:off x="29324604" y="4702821"/>
            <a:ext cx="14101483" cy="26001990"/>
          </a:xfrm>
          <a:prstGeom prst="rect">
            <a:avLst/>
          </a:prstGeom>
          <a:noFill/>
          <a:ln>
            <a:gradFill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miter lim="800000"/>
          </a:ln>
        </p:spPr>
        <p:txBody>
          <a:bodyPr wrap="square" rtlCol="0">
            <a:spAutoFit/>
          </a:bodyPr>
          <a:lstStyle/>
          <a:p>
            <a:r>
              <a:t>Results and discussion</a:t>
            </a:r>
          </a:p>
          <a:p>
            <a:r>
              <a:t>- The visual analysis supports the predictive modeling conclusions.</a:t>
            </a:r>
          </a:p>
          <a:p>
            <a:r>
              <a:t>- Combined charts help interpret feature influence and risk movement.</a:t>
            </a:r>
          </a:p>
          <a:p/>
          <a:p>
            <a:r>
              <a:t>Conclusion</a:t>
            </a:r>
          </a:p>
          <a:p>
            <a:r>
              <a:t>EDA findings align with model evaluation and justify ensemble usage.</a:t>
            </a:r>
          </a:p>
          <a:p/>
          <a:p>
            <a:r>
              <a:t>References</a:t>
            </a:r>
          </a:p>
          <a:p>
            <a:r>
              <a:t>Project codebase, generated experiment artifacts, and model evaluation outputs.</a:t>
            </a:r>
          </a:p>
        </p:txBody>
      </p:sp>
      <p:sp>
        <p:nvSpPr>
          <p:cNvPr id="6" name="object 3">
            <a:extLst>
              <a:ext uri="{FF2B5EF4-FFF2-40B4-BE49-F238E27FC236}">
                <a16:creationId xmlns="" xmlns:a16="http://schemas.microsoft.com/office/drawing/2014/main" id="{E3E3A997-AC34-4F4F-AB70-E535DDD5B7DE}"/>
              </a:ext>
            </a:extLst>
          </p:cNvPr>
          <p:cNvSpPr/>
          <p:nvPr/>
        </p:nvSpPr>
        <p:spPr>
          <a:xfrm>
            <a:off x="0" y="-349622"/>
            <a:ext cx="43891200" cy="3657253"/>
          </a:xfrm>
          <a:custGeom>
            <a:avLst/>
            <a:gdLst/>
            <a:ahLst/>
            <a:cxnLst/>
            <a:rect l="l" t="t" r="r" b="b"/>
            <a:pathLst>
              <a:path w="20104100" h="2233930">
                <a:moveTo>
                  <a:pt x="0" y="2233788"/>
                </a:moveTo>
                <a:lnTo>
                  <a:pt x="20104099" y="2233788"/>
                </a:lnTo>
                <a:lnTo>
                  <a:pt x="20104099" y="0"/>
                </a:lnTo>
                <a:lnTo>
                  <a:pt x="0" y="0"/>
                </a:lnTo>
                <a:lnTo>
                  <a:pt x="0" y="2233788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 sz="4825"/>
          </a:p>
        </p:txBody>
      </p:sp>
      <p:sp>
        <p:nvSpPr>
          <p:cNvPr id="7" name="object 4">
            <a:extLst>
              <a:ext uri="{FF2B5EF4-FFF2-40B4-BE49-F238E27FC236}">
                <a16:creationId xmlns="" xmlns:a16="http://schemas.microsoft.com/office/drawing/2014/main" id="{1E7FBB64-4D0D-0A4B-90FA-4E80427AEDDE}"/>
              </a:ext>
            </a:extLst>
          </p:cNvPr>
          <p:cNvSpPr txBox="1">
            <a:spLocks/>
          </p:cNvSpPr>
          <p:nvPr/>
        </p:nvSpPr>
        <p:spPr>
          <a:xfrm>
            <a:off x="9429485" y="126527"/>
            <a:ext cx="32848068" cy="1017141"/>
          </a:xfrm>
          <a:prstGeom prst="rect">
            <a:avLst/>
          </a:prstGeom>
        </p:spPr>
        <p:txBody>
          <a:bodyPr vert="horz" wrap="square" lIns="0" tIns="19752" rIns="0" bIns="0" rtlCol="0" anchor="b">
            <a:spAutoFit/>
          </a:bodyPr>
          <a:lstStyle>
            <a:lvl1pPr algn="ctr" defTabSz="438912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t>AccidentZero AI: EDA and Visual Analysis Summary</a:t>
            </a:r>
          </a:p>
        </p:txBody>
      </p:sp>
      <p:sp>
        <p:nvSpPr>
          <p:cNvPr id="9" name="object 6">
            <a:extLst>
              <a:ext uri="{FF2B5EF4-FFF2-40B4-BE49-F238E27FC236}">
                <a16:creationId xmlns="" xmlns:a16="http://schemas.microsoft.com/office/drawing/2014/main" id="{0E51A11A-3A38-D04C-9B83-12833A3C48F8}"/>
              </a:ext>
            </a:extLst>
          </p:cNvPr>
          <p:cNvSpPr txBox="1"/>
          <p:nvPr/>
        </p:nvSpPr>
        <p:spPr>
          <a:xfrm>
            <a:off x="10744200" y="1239476"/>
            <a:ext cx="17800475" cy="642846"/>
          </a:xfrm>
          <a:prstGeom prst="rect">
            <a:avLst/>
          </a:prstGeom>
        </p:spPr>
        <p:txBody>
          <a:bodyPr vert="horz" wrap="square" lIns="0" tIns="27029" rIns="0" bIns="0" rtlCol="0">
            <a:spAutoFit/>
          </a:bodyPr>
          <a:lstStyle/>
          <a:p>
            <a:r>
              <a:t>Student Name (Reg. No.): __________________</a:t>
            </a:r>
          </a:p>
        </p:txBody>
      </p:sp>
      <p:sp>
        <p:nvSpPr>
          <p:cNvPr id="54" name="object 11">
            <a:extLst>
              <a:ext uri="{FF2B5EF4-FFF2-40B4-BE49-F238E27FC236}">
                <a16:creationId xmlns="" xmlns:a16="http://schemas.microsoft.com/office/drawing/2014/main" id="{EDFC8681-2751-864D-AD18-6901FD6462C2}"/>
              </a:ext>
            </a:extLst>
          </p:cNvPr>
          <p:cNvSpPr txBox="1"/>
          <p:nvPr/>
        </p:nvSpPr>
        <p:spPr>
          <a:xfrm>
            <a:off x="32229007" y="21095422"/>
            <a:ext cx="9829800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t>Figure: EDA/analysis visualization 1</a:t>
            </a:r>
          </a:p>
        </p:txBody>
      </p:sp>
      <p:graphicFrame>
        <p:nvGraphicFramePr>
          <p:cNvPr id="55" name="Chart 54">
            <a:extLst>
              <a:ext uri="{FF2B5EF4-FFF2-40B4-BE49-F238E27FC236}">
                <a16:creationId xmlns="" xmlns:a16="http://schemas.microsoft.com/office/drawing/2014/main" id="{0A1EC19B-A6C2-4043-8D0B-30A34670C24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25904089"/>
              </p:ext>
            </p:extLst>
          </p:nvPr>
        </p:nvGraphicFramePr>
        <p:xfrm>
          <a:off x="32746739" y="15771792"/>
          <a:ext cx="9871883" cy="49387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0" name="Chart 59">
            <a:extLst>
              <a:ext uri="{FF2B5EF4-FFF2-40B4-BE49-F238E27FC236}">
                <a16:creationId xmlns="" xmlns:a16="http://schemas.microsoft.com/office/drawing/2014/main" id="{BBC4230B-CCAA-B642-B968-26C92D08E3D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87313699"/>
              </p:ext>
            </p:extLst>
          </p:nvPr>
        </p:nvGraphicFramePr>
        <p:xfrm>
          <a:off x="31770242" y="10162575"/>
          <a:ext cx="4582316" cy="45823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1" name="Chart 60">
            <a:extLst>
              <a:ext uri="{FF2B5EF4-FFF2-40B4-BE49-F238E27FC236}">
                <a16:creationId xmlns="" xmlns:a16="http://schemas.microsoft.com/office/drawing/2014/main" id="{287D039C-E96B-BA4C-8B74-8F8FBCAA1DB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74793736"/>
              </p:ext>
            </p:extLst>
          </p:nvPr>
        </p:nvGraphicFramePr>
        <p:xfrm>
          <a:off x="37143907" y="10181202"/>
          <a:ext cx="4582316" cy="45823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29" name="Picture 28" descr="See the source image"/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2202"/>
            <a:ext cx="8767482" cy="2963662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object 6">
            <a:extLst>
              <a:ext uri="{FF2B5EF4-FFF2-40B4-BE49-F238E27FC236}">
                <a16:creationId xmlns="" xmlns:a16="http://schemas.microsoft.com/office/drawing/2014/main" id="{0E51A11A-3A38-D04C-9B83-12833A3C48F8}"/>
              </a:ext>
            </a:extLst>
          </p:cNvPr>
          <p:cNvSpPr txBox="1"/>
          <p:nvPr/>
        </p:nvSpPr>
        <p:spPr>
          <a:xfrm>
            <a:off x="10896600" y="1849074"/>
            <a:ext cx="17800475" cy="642846"/>
          </a:xfrm>
          <a:prstGeom prst="rect">
            <a:avLst/>
          </a:prstGeom>
        </p:spPr>
        <p:txBody>
          <a:bodyPr vert="horz" wrap="square" lIns="0" tIns="27029" rIns="0" bIns="0" rtlCol="0">
            <a:spAutoFit/>
          </a:bodyPr>
          <a:lstStyle/>
          <a:p>
            <a:r>
              <a:t>Guide Name: __________________</a:t>
            </a:r>
          </a:p>
        </p:txBody>
      </p:sp>
      <p:sp>
        <p:nvSpPr>
          <p:cNvPr id="33" name="object 6">
            <a:extLst>
              <a:ext uri="{FF2B5EF4-FFF2-40B4-BE49-F238E27FC236}">
                <a16:creationId xmlns="" xmlns:a16="http://schemas.microsoft.com/office/drawing/2014/main" id="{0E51A11A-3A38-D04C-9B83-12833A3C48F8}"/>
              </a:ext>
            </a:extLst>
          </p:cNvPr>
          <p:cNvSpPr txBox="1"/>
          <p:nvPr/>
        </p:nvSpPr>
        <p:spPr>
          <a:xfrm>
            <a:off x="10941424" y="2539354"/>
            <a:ext cx="17800475" cy="642846"/>
          </a:xfrm>
          <a:prstGeom prst="rect">
            <a:avLst/>
          </a:prstGeom>
        </p:spPr>
        <p:txBody>
          <a:bodyPr vert="horz" wrap="square" lIns="0" tIns="27029" rIns="0" bIns="0" rtlCol="0">
            <a:spAutoFit/>
          </a:bodyPr>
          <a:lstStyle/>
          <a:p>
            <a:r>
              <a:t>School Name: __________________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8916" y="4590627"/>
            <a:ext cx="14101483" cy="26376451"/>
          </a:xfrm>
          <a:prstGeom prst="rect">
            <a:avLst/>
          </a:prstGeom>
          <a:noFill/>
          <a:ln>
            <a:gradFill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miter lim="800000"/>
          </a:ln>
        </p:spPr>
        <p:txBody>
          <a:bodyPr wrap="square" rtlCol="0">
            <a:spAutoFit/>
          </a:bodyPr>
          <a:lstStyle/>
          <a:p>
            <a:r>
              <a:t>INTRODUCTION</a:t>
            </a:r>
          </a:p>
          <a:p>
            <a:r>
              <a:t>This slide presents visual EDA outputs from the safety dataset and generated analysis charts.</a:t>
            </a:r>
          </a:p>
          <a:p/>
          <a:p>
            <a:r>
              <a:t>Highlights</a:t>
            </a:r>
          </a:p>
          <a:p>
            <a:r>
              <a:t>- Distribution trends captured for key risk variables.</a:t>
            </a:r>
          </a:p>
          <a:p>
            <a:r>
              <a:t>- Comparative model performance and risk behavior observed.</a:t>
            </a:r>
          </a:p>
          <a:p>
            <a:r>
              <a:t>- Visual outputs validate pattern consistency used by ML models.</a:t>
            </a:r>
          </a:p>
        </p:txBody>
      </p:sp>
      <p:sp>
        <p:nvSpPr>
          <p:cNvPr id="37" name="object 11">
            <a:extLst>
              <a:ext uri="{FF2B5EF4-FFF2-40B4-BE49-F238E27FC236}">
                <a16:creationId xmlns="" xmlns:a16="http://schemas.microsoft.com/office/drawing/2014/main" id="{EDFC8681-2751-864D-AD18-6901FD6462C2}"/>
              </a:ext>
            </a:extLst>
          </p:cNvPr>
          <p:cNvSpPr txBox="1"/>
          <p:nvPr/>
        </p:nvSpPr>
        <p:spPr>
          <a:xfrm>
            <a:off x="32229007" y="14837124"/>
            <a:ext cx="9829800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t>Figure: EDA/analysis visualization 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894858" y="4662345"/>
            <a:ext cx="14101483" cy="26284118"/>
          </a:xfrm>
          <a:prstGeom prst="rect">
            <a:avLst/>
          </a:prstGeom>
          <a:noFill/>
          <a:ln>
            <a:gradFill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miter lim="800000"/>
          </a:ln>
        </p:spPr>
        <p:txBody>
          <a:bodyPr wrap="square" rtlCol="0">
            <a:spAutoFit/>
          </a:bodyPr>
          <a:lstStyle/>
          <a:p>
            <a:r>
              <a:t>Methodology (EDA)</a:t>
            </a:r>
          </a:p>
          <a:p>
            <a:r>
              <a:t>- Bar, line, histogram, scatter and correlation visualizations were generated.</a:t>
            </a:r>
          </a:p>
          <a:p>
            <a:r>
              <a:t>- Comparative fused charts were used to analyze variable interactions.</a:t>
            </a:r>
          </a:p>
          <a:p/>
          <a:p>
            <a:r>
              <a:t>All methods/model implementations</a:t>
            </a:r>
          </a:p>
          <a:p>
            <a:r>
              <a:t>- Classical ML + ensemble pipeline implemented in project code.</a:t>
            </a:r>
          </a:p>
          <a:p>
            <a:r>
              <a:t>- Batch prediction outputs verified through generated CSV artifacts.</a:t>
            </a:r>
          </a:p>
        </p:txBody>
      </p:sp>
      <p:grpSp>
        <p:nvGrpSpPr>
          <p:cNvPr id="51" name="Group 50"/>
          <p:cNvGrpSpPr/>
          <p:nvPr/>
        </p:nvGrpSpPr>
        <p:grpSpPr>
          <a:xfrm>
            <a:off x="15686646" y="14686680"/>
            <a:ext cx="11341942" cy="4553593"/>
            <a:chOff x="1837346" y="3230310"/>
            <a:chExt cx="7503206" cy="2289188"/>
          </a:xfrm>
        </p:grpSpPr>
        <p:sp>
          <p:nvSpPr>
            <p:cNvPr id="52" name="Rectangle 51"/>
            <p:cNvSpPr/>
            <p:nvPr/>
          </p:nvSpPr>
          <p:spPr>
            <a:xfrm>
              <a:off x="1837346" y="3230311"/>
              <a:ext cx="1452785" cy="91440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2800" dirty="0" smtClean="0"/>
                <a:t>Datasets</a:t>
              </a:r>
              <a:endParaRPr lang="en-IN" sz="2800" dirty="0"/>
            </a:p>
          </p:txBody>
        </p:sp>
        <p:sp>
          <p:nvSpPr>
            <p:cNvPr id="62" name="Rectangle 61"/>
            <p:cNvSpPr/>
            <p:nvPr/>
          </p:nvSpPr>
          <p:spPr>
            <a:xfrm>
              <a:off x="7964679" y="4605098"/>
              <a:ext cx="1375873" cy="91440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2800" dirty="0" smtClean="0"/>
                <a:t>Feature </a:t>
              </a:r>
              <a:r>
                <a:rPr lang="en-IN" sz="2800" dirty="0"/>
                <a:t>E</a:t>
              </a:r>
              <a:r>
                <a:rPr lang="en-IN" sz="2800" dirty="0" smtClean="0"/>
                <a:t>xtraction </a:t>
              </a:r>
              <a:endParaRPr lang="en-IN" sz="2800" dirty="0"/>
            </a:p>
          </p:txBody>
        </p:sp>
        <p:sp>
          <p:nvSpPr>
            <p:cNvPr id="63" name="Rectangle 62"/>
            <p:cNvSpPr/>
            <p:nvPr/>
          </p:nvSpPr>
          <p:spPr>
            <a:xfrm>
              <a:off x="1837346" y="4645012"/>
              <a:ext cx="1428019" cy="874486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2800" dirty="0" smtClean="0"/>
                <a:t>TB affected or not</a:t>
              </a:r>
              <a:endParaRPr lang="en-IN" sz="2800" dirty="0"/>
            </a:p>
          </p:txBody>
        </p:sp>
        <p:sp>
          <p:nvSpPr>
            <p:cNvPr id="64" name="Rectangle 63"/>
            <p:cNvSpPr/>
            <p:nvPr/>
          </p:nvSpPr>
          <p:spPr>
            <a:xfrm>
              <a:off x="4822086" y="4645012"/>
              <a:ext cx="1427148" cy="874486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2800" dirty="0" smtClean="0"/>
                <a:t>Machine Learning Algorithm</a:t>
              </a:r>
              <a:endParaRPr lang="en-IN" sz="2800" dirty="0"/>
            </a:p>
          </p:txBody>
        </p:sp>
        <p:cxnSp>
          <p:nvCxnSpPr>
            <p:cNvPr id="65" name="Straight Arrow Connector 64"/>
            <p:cNvCxnSpPr>
              <a:stCxn id="64" idx="1"/>
              <a:endCxn id="63" idx="3"/>
            </p:cNvCxnSpPr>
            <p:nvPr/>
          </p:nvCxnSpPr>
          <p:spPr>
            <a:xfrm flipH="1">
              <a:off x="3265365" y="5082255"/>
              <a:ext cx="155672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Rectangle 65"/>
            <p:cNvSpPr/>
            <p:nvPr/>
          </p:nvSpPr>
          <p:spPr>
            <a:xfrm>
              <a:off x="4822086" y="3230310"/>
              <a:ext cx="1427148" cy="851617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2800" dirty="0" smtClean="0"/>
                <a:t>Data Exploration</a:t>
              </a:r>
              <a:endParaRPr lang="en-IN" sz="2800" dirty="0"/>
            </a:p>
          </p:txBody>
        </p:sp>
        <p:sp>
          <p:nvSpPr>
            <p:cNvPr id="67" name="Rectangle 66"/>
            <p:cNvSpPr/>
            <p:nvPr/>
          </p:nvSpPr>
          <p:spPr>
            <a:xfrm>
              <a:off x="7853584" y="3230310"/>
              <a:ext cx="1486968" cy="851146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2800" dirty="0" smtClean="0"/>
                <a:t>Deep Net</a:t>
              </a:r>
              <a:endParaRPr lang="en-IN" sz="2800" dirty="0"/>
            </a:p>
          </p:txBody>
        </p:sp>
        <p:cxnSp>
          <p:nvCxnSpPr>
            <p:cNvPr id="68" name="Straight Arrow Connector 67"/>
            <p:cNvCxnSpPr>
              <a:stCxn id="52" idx="3"/>
              <a:endCxn id="66" idx="1"/>
            </p:cNvCxnSpPr>
            <p:nvPr/>
          </p:nvCxnSpPr>
          <p:spPr>
            <a:xfrm flipV="1">
              <a:off x="3290131" y="3656119"/>
              <a:ext cx="1531955" cy="3139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Arrow Connector 68"/>
            <p:cNvCxnSpPr>
              <a:stCxn id="66" idx="3"/>
              <a:endCxn id="67" idx="1"/>
            </p:cNvCxnSpPr>
            <p:nvPr/>
          </p:nvCxnSpPr>
          <p:spPr>
            <a:xfrm flipV="1">
              <a:off x="6249234" y="3655883"/>
              <a:ext cx="1604350" cy="23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Arrow Connector 69"/>
            <p:cNvCxnSpPr>
              <a:endCxn id="62" idx="0"/>
            </p:cNvCxnSpPr>
            <p:nvPr/>
          </p:nvCxnSpPr>
          <p:spPr>
            <a:xfrm>
              <a:off x="8652616" y="4081927"/>
              <a:ext cx="0" cy="52317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Arrow Connector 70"/>
            <p:cNvCxnSpPr>
              <a:stCxn id="62" idx="1"/>
              <a:endCxn id="64" idx="3"/>
            </p:cNvCxnSpPr>
            <p:nvPr/>
          </p:nvCxnSpPr>
          <p:spPr>
            <a:xfrm flipH="1">
              <a:off x="6249234" y="5062298"/>
              <a:ext cx="1715445" cy="1995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2" name="Picture 71" descr="Screenshot 2026-04-06 13200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746739" y="15771792"/>
            <a:ext cx="9871883" cy="4938756"/>
          </a:xfrm>
          <a:prstGeom prst="rect">
            <a:avLst/>
          </a:prstGeom>
        </p:spPr>
      </p:pic>
      <p:pic>
        <p:nvPicPr>
          <p:cNvPr id="73" name="Picture 72" descr="Screenshot 2026-04-06 10222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770242" y="10162575"/>
            <a:ext cx="4582316" cy="4582316"/>
          </a:xfrm>
          <a:prstGeom prst="rect">
            <a:avLst/>
          </a:prstGeom>
        </p:spPr>
      </p:pic>
      <p:pic>
        <p:nvPicPr>
          <p:cNvPr id="74" name="Picture 73" descr="proposed_vs_existing_graph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143907" y="10181202"/>
            <a:ext cx="4582316" cy="4582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171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332</TotalTime>
  <Words>526</Words>
  <Application>Microsoft Office PowerPoint</Application>
  <PresentationFormat>Custom</PresentationFormat>
  <Paragraphs>246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Swanger, Scott A</dc:creator>
  <cp:lastModifiedBy>admin</cp:lastModifiedBy>
  <cp:revision>33</cp:revision>
  <dcterms:created xsi:type="dcterms:W3CDTF">2019-03-04T22:30:53Z</dcterms:created>
  <dcterms:modified xsi:type="dcterms:W3CDTF">2026-04-02T16:38:42Z</dcterms:modified>
</cp:coreProperties>
</file>